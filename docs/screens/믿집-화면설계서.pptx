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0a21822-b168-eb37-f49f-823ff38ffaca}">
          <p14:sldIdLst>
            <p14:sldId id="256"/>
          </p14:sldIdLst>
        </p14:section>
        <p14:section name="버전 기록" id="{408e75bb-623b-3127-edc7-74173f433790}">
          <p14:sldIdLst>
            <p14:sldId id="257"/>
          </p14:sldIdLst>
        </p14:section>
        <p14:section name="화면 목록" id="{dfe1e53d-5875-25fd-4270-1221708d70f9}">
          <p14:sldIdLst>
            <p14:sldId id="258"/>
            <p14:sldId id="259"/>
            <p14:sldId id="260"/>
          </p14:sldIdLst>
        </p14:section>
        <p14:section name="공통" id="{28bfbd7f-79db-43ab-5eeb-41f9426eaf0b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견적 받기" id="{a561a143-d16a-5247-6370-05d7e696ccf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프로젝트" id="{ab376315-5e90-8334-6400-317b4bc42b53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업체" id="{10684119-56d8-2cd6-e040-008b2152d143}">
          <p14:sldIdLst>
            <p14:sldId id="300"/>
            <p14:sldId id="301"/>
            <p14:sldId id="302"/>
            <p14:sldId id="303"/>
          </p14:sldIdLst>
        </p14:section>
        <p14:section name="관리자" id="{90f48809-fe0b-3e6f-a2ae-a876b1ca0c1e}">
          <p14:sldIdLst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72233"/>
                </a:solidFill>
              </a:rPr>
              <a:t>믿집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2D6CB5"/>
          </a:solidFill>
          <a:ln/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1524000" y="1962150"/>
            <a:ext cx="8572500" cy="342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50" b="1" dirty="0">
                <a:solidFill>
                  <a:srgbClr val="172233"/>
                </a:solidFill>
              </a:defRPr>
            </a:lvl1pPr>
          </a:lstStyle>
          <a:p>
            <a:pPr algn="l" indent="0" marL="0">
              <a:buNone/>
            </a:pPr>
            <a:endParaRPr lang="en-US" sz="195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1733550" y="2381250"/>
            <a:ext cx="85725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3A4659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485900" y="2762250"/>
            <a:ext cx="9525000" cy="857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dirty="0">
                <a:solidFill>
                  <a:srgbClr val="172233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0" y="95250"/>
            <a:ext cx="579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56647A"/>
                </a:solidFill>
              </a:rPr>
              <a:t>SKN34-Final-1Team</a:t>
            </a:r>
            <a:endParaRPr lang="en-US" sz="83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04800" y="323850"/>
            <a:ext cx="8572500" cy="323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72233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0" y="95250"/>
            <a:ext cx="579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56647A"/>
                </a:solidFill>
              </a:rPr>
              <a:t>SKN34-Final-1Team</a:t>
            </a:r>
            <a:endParaRPr lang="en-US" sz="83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40" dirty="0">
                <a:solidFill>
                  <a:srgbClr val="172233"/>
                </a:solidFill>
              </a:defRPr>
            </a:lvl1pPr>
          </a:lstStyle>
          <a:p>
            <a:pPr algn="l" indent="0" marL="0">
              <a:buNone/>
            </a:pP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1524000" y="19621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2233"/>
                </a:solidFill>
              </a:rPr>
              <a:t>SKN34-Final-1Team</a:t>
            </a:r>
            <a:endParaRPr lang="en-US" sz="195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1733550" y="23812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4659"/>
                </a:solidFill>
              </a:rPr>
              <a:t>믿집: 아파트 도배 · 목공 견적을 공공 기준과 비교하며 업체를 고르는 서비스</a:t>
            </a:r>
            <a:endParaRPr lang="en-US" sz="12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1485900" y="2762250"/>
            <a:ext cx="952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rgbClr val="172233"/>
                </a:solidFill>
              </a:rPr>
              <a:t>믿집 화면설계서</a:t>
            </a:r>
            <a:endParaRPr lang="en-US" sz="4200" dirty="0"/>
          </a:p>
        </p:txBody>
      </p:sp>
      <p:sp>
        <p:nvSpPr>
          <p:cNvPr id="5" name="tag-dot"/>
          <p:cNvSpPr/>
          <p:nvPr/>
        </p:nvSpPr>
        <p:spPr>
          <a:xfrm>
            <a:off x="1524000" y="2428875"/>
            <a:ext cx="133350" cy="133350"/>
          </a:xfrm>
          <a:prstGeom prst="ellipse">
            <a:avLst/>
          </a:prstGeom>
          <a:solidFill>
            <a:srgbClr val="2D6CB5"/>
          </a:solidFill>
          <a:ln w="12700">
            <a:solidFill>
              <a:srgbClr val="2D6CB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04800" y="3238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3"/>
                </a:solidFill>
              </a:rPr>
              <a:t>버전 기록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762000"/>
          <a:ext cx="11582400" cy="914400"/>
        </p:xfrm>
        <a:graphic>
          <a:graphicData uri="http://schemas.openxmlformats.org/drawingml/2006/table">
            <a:tbl>
              <a:tblPr/>
              <a:tblGrid>
                <a:gridCol w="857250"/>
                <a:gridCol w="1143000"/>
                <a:gridCol w="1905000"/>
                <a:gridCol w="767715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v1.0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2026-10-29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이성민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처음 작성 (요구사항 v3.2 기준, 화면 47쪽)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04800" y="3238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3"/>
                </a:solidFill>
              </a:rPr>
              <a:t>화면 목록 (1/3)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7620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09750"/>
                <a:gridCol w="1809750"/>
                <a:gridCol w="1619250"/>
                <a:gridCol w="5048250"/>
                <a:gridCol w="3810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쪽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</a:tr>
              <a:tr h="22860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공통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SC-01-001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홈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SC-01-002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로그인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/login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FFW-01, FBF-02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로그인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SC-01-003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회원가입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/signup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로그인 &gt; 회원가입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SC-01-004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계정 메뉴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/my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메인(로그인 o) &gt; 계정 아이콘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SC-01-005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자주 묻는 질문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/faq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자주 묻는 질문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견적 받기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지역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1 지역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집 종류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2 집 종류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평수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3 평수 &gt; 정확히 적을게요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공사 시기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4 시기 &gt; 날짜가 정해졌어요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집 상태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5 집 상태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예산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6 예산 (선택)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공정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7 공정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SC-02-008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도배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8 도배 공간 · 유형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SC-02-009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목공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9 목공 공간 · 항목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SC-02-010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공간별 사진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10 공간별 사진 (선택)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SC-02-011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도면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11 도면 (선택)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SC-02-012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견적 받기 · 확인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/start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FFW-03, FFW-04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견적 받기 &gt; 12 확인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프로젝트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04800" y="3238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3"/>
                </a:solidFill>
              </a:rPr>
              <a:t>화면 목록 (2/3)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7620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09750"/>
                <a:gridCol w="1809750"/>
                <a:gridCol w="1619250"/>
                <a:gridCol w="5048250"/>
                <a:gridCol w="3810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쪽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내 프로젝트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/my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FFW-18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마이페이지 &gt; 내 프로젝트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진행 현황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/projects/[id]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FFW-18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내 프로젝트 &gt; 프로젝트 보기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진행 현황 (예시)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FFW-18 ~ FFW-21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내 프로젝트 &gt; 예시 프로젝트 보기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예상 공정표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/projects/p1/plan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FAG-01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&gt; 1 예상 공정표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표준견적서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/projects/p1/standard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FFW-05, FBF-04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&gt; 2 표준견적서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고르기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/projects/p1/vendors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FFW-06, FFW-07, FAG-02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&gt; 3 업체 고르기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상세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/vendors/v1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FFW-09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고르기 &gt; 업체 정보 보기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SC-03-008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가견적 요청 확인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/projects/p1/request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고르기 &gt; 요청함에 담기 &gt; 가견적 요청 확인하기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SC-03-009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가견적 비교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/projects/p1/quotes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FFW-11, FBF-05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&gt; 4 가견적 비교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SC-03-010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실측 견적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/projects/p1/measure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FFW-13, FFW-15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&gt; 5 실측 견적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SC-03-011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확정 공정표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/projects/p1/schedule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&gt; 6 확정 공정표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SC-03-012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이력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/projects/p1/history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FFW-22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프로젝트 &gt; 이력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SC-03-013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내 정보 · 설정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/account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메인 &gt; 마이페이지 &gt; 내 정보 · 설정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SC-03-014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회원 탈퇴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/account/withdraw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FFW-17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내 정보 · 설정 &gt; 회원 탈퇴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업체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SC-04-001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회원가입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/signup/vendor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FFV-01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로그인 &gt; 회원가입 &gt; 업체로 가입하기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SC-04-002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홈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/vendor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FBF-01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가입 &gt; 업체 홈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관리자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SC-05-001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회원관리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/admin/members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FAD-01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관리자 &gt; 회원관리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SC-05-002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업체관리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/admin/vendors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FAD-03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관리자 &gt; 업체관리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04800" y="3238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3"/>
                </a:solidFill>
              </a:rPr>
              <a:t>화면 목록 (3/3)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7620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09750"/>
                <a:gridCol w="1809750"/>
                <a:gridCol w="1619250"/>
                <a:gridCol w="5048250"/>
                <a:gridCol w="3810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쪽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SC-05-003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 신청 상세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/admin/vendors/[id]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FAD-02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업체관리 &gt; 업체 이름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233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76200" marR="76200" marT="27432" marB="27432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홈</a:t>
            </a:r>
            <a:endParaRPr lang="en-US" sz="94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SC-01-001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홈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54728"/>
            <a:ext cx="8610600" cy="3634344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88165" y="1982066"/>
            <a:ext cx="5629775" cy="392628"/>
          </a:xfrm>
          <a:prstGeom prst="roundRect">
            <a:avLst>
              <a:gd name="adj" fmla="val 931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35765" y="195472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6828528" y="1996044"/>
            <a:ext cx="1057250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676128" y="195472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7926476" y="1996044"/>
            <a:ext cx="682021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7774076" y="195472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611703" y="4203078"/>
            <a:ext cx="1101150" cy="448541"/>
          </a:xfrm>
          <a:prstGeom prst="roundRect">
            <a:avLst>
              <a:gd name="adj" fmla="val 815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459303" y="406972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mark-box-5"/>
          <p:cNvSpPr/>
          <p:nvPr/>
        </p:nvSpPr>
        <p:spPr>
          <a:xfrm>
            <a:off x="1725594" y="4203078"/>
            <a:ext cx="1210355" cy="448541"/>
          </a:xfrm>
          <a:prstGeom prst="roundRect">
            <a:avLst>
              <a:gd name="adj" fmla="val 815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5" name="mark-5"/>
          <p:cNvSpPr/>
          <p:nvPr/>
        </p:nvSpPr>
        <p:spPr>
          <a:xfrm>
            <a:off x="1573194" y="406972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6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7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8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SC-01-001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주 메뉴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고객: 내 프로젝트 · 자주 묻는 질문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업체: 업체 홈 · 관리자: 회원관리 · 업체관리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로그인 · 회원가입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로그인 화면으로 이동 (로그인하면 계정 아이콘으로 바뀜)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견적 받기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어느 화면에서든 견적 받기 질문 창을 엶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업체 · 관리자에게는 보이지 않음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견적 받기 시작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견적 받기 질문 창을 엶 (로그인 없이 시작, 만들 때 로그인)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내 프로젝트 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마이페이지 내 프로젝트로 이동 (로그인 안 했으면 로그인 뒤 돌아옴)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2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이어서 쓰기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쓰던 견적 요청서가 있으면 아래에 '이어서 쓰기' 카드가 나옴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로그인</a:t>
            </a:r>
            <a:endParaRPr lang="en-US" sz="94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FFW-01, FBF-02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로그인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/login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SC-01-002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로그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314488" y="2111629"/>
            <a:ext cx="2591223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162088" y="197827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314488" y="2761758"/>
            <a:ext cx="2591223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162088" y="262840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3314488" y="3411887"/>
            <a:ext cx="2591223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3162088" y="327853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5321950" y="4141205"/>
            <a:ext cx="583762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5169550" y="400785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SC-01-002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이메일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가입한 이메일 (대소문자 구분 없음)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비밀번호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같은 이메일 · IP로 15분에 10번 틀리면 잠시 막음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로그인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권한에 맞는 화면으로 이동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고객: 원래 보던 화면 · 업체: 업체 홈 · 관리자: 회원관리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회원가입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고객 회원가입으로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38162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667375"/>
            <a:ext cx="27051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로그인은 하나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고객 · 업체 · 관리자가 같은 화면에서 로그인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틀리면 한 문장만 보여 주고 가입 여부는 알리지 않음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회원가입</a:t>
            </a:r>
            <a:endParaRPr lang="en-US" sz="94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로그인 &gt; 회원가입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/signup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SC-01-003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회원가입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371" y="990600"/>
            <a:ext cx="6679457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361657" y="1970450"/>
            <a:ext cx="2496887" cy="529849"/>
          </a:xfrm>
          <a:prstGeom prst="roundRect">
            <a:avLst>
              <a:gd name="adj" fmla="val 690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209257" y="183710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361657" y="2540738"/>
            <a:ext cx="2496887" cy="529849"/>
          </a:xfrm>
          <a:prstGeom prst="roundRect">
            <a:avLst>
              <a:gd name="adj" fmla="val 690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209257" y="240738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3361657" y="3111027"/>
            <a:ext cx="2496887" cy="703341"/>
          </a:xfrm>
          <a:prstGeom prst="roundRect">
            <a:avLst>
              <a:gd name="adj" fmla="val 52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3209257" y="297767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3361657" y="3854807"/>
            <a:ext cx="2496887" cy="529849"/>
          </a:xfrm>
          <a:prstGeom prst="roundRect">
            <a:avLst>
              <a:gd name="adj" fmla="val 690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3209257" y="372145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mark-box-5"/>
          <p:cNvSpPr/>
          <p:nvPr/>
        </p:nvSpPr>
        <p:spPr>
          <a:xfrm>
            <a:off x="3361657" y="4425096"/>
            <a:ext cx="2496887" cy="1056764"/>
          </a:xfrm>
          <a:prstGeom prst="roundRect">
            <a:avLst>
              <a:gd name="adj" fmla="val 346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5" name="mark-5"/>
          <p:cNvSpPr/>
          <p:nvPr/>
        </p:nvSpPr>
        <p:spPr>
          <a:xfrm>
            <a:off x="3209257" y="429174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6" name="mark-box-6"/>
          <p:cNvSpPr/>
          <p:nvPr/>
        </p:nvSpPr>
        <p:spPr>
          <a:xfrm>
            <a:off x="3361657" y="5522300"/>
            <a:ext cx="2496887" cy="339075"/>
          </a:xfrm>
          <a:prstGeom prst="roundRect">
            <a:avLst>
              <a:gd name="adj" fmla="val 1078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7" name="mark-6"/>
          <p:cNvSpPr/>
          <p:nvPr/>
        </p:nvSpPr>
        <p:spPr>
          <a:xfrm>
            <a:off x="3209257" y="538895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18" name="mark-box-7"/>
          <p:cNvSpPr/>
          <p:nvPr/>
        </p:nvSpPr>
        <p:spPr>
          <a:xfrm>
            <a:off x="4689111" y="6053620"/>
            <a:ext cx="603719" cy="171004"/>
          </a:xfrm>
          <a:prstGeom prst="roundRect">
            <a:avLst>
              <a:gd name="adj" fmla="val 2138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9" name="mark-7"/>
          <p:cNvSpPr/>
          <p:nvPr/>
        </p:nvSpPr>
        <p:spPr>
          <a:xfrm>
            <a:off x="4536711" y="592027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2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2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SC-01-003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이름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견적 요청에 쓰는 이름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이메일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로그인 아이디. 이미 있으면 가입 안 됨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비밀번호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칸 아래 안내: 영문, 숫자, 8자 이상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비밀번호 확인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위와 같아야 함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약관 동의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이용약관 · 개인정보 수집 · 이용 (둘 다 필수)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가입하기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가입하고 바로 로그인한 상태로 원래 화면으로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업체로 가입하기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업체 회원가입으로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고객 회원가입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가입은 견적 요청 · 진행 상황을 저장할 때만 필요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회원가입 · 입력 오류</a:t>
            </a:r>
            <a:endParaRPr lang="en-US" sz="94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회원가입 &gt; 빈 칸으로 가입하기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/signup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SC-01-003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회원가입 · 입력 오류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95" y="990600"/>
            <a:ext cx="646521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400784" y="1938104"/>
            <a:ext cx="2418631" cy="682615"/>
          </a:xfrm>
          <a:prstGeom prst="roundRect">
            <a:avLst>
              <a:gd name="adj" fmla="val 535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248384" y="180475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9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0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SC-01-003 · 2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칸 아래 오류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칸마다 무엇을 고칠지 바로 아래에 보여 줌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첫 번째로 고칠 칸으로 초점을 옮김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4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입력 오류 표시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색만으로 알리지 않고 문장으로 알림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서버 검사 결과(이미 쓰는 이메일 등)도 같은 자리에 보여 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계정 메뉴</a:t>
            </a:r>
            <a:endParaRPr lang="en-US" sz="94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FFW-17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메인(로그인 o) &gt; 계정 아이콘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/my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SC-01-004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계정 메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05272"/>
            <a:ext cx="8610600" cy="4333256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8243826" y="1646588"/>
            <a:ext cx="364671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8091426" y="160527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7062664" y="2974412"/>
            <a:ext cx="1496909" cy="672193"/>
          </a:xfrm>
          <a:prstGeom prst="roundRect">
            <a:avLst>
              <a:gd name="adj" fmla="val 544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910264" y="284106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7062664" y="3652357"/>
            <a:ext cx="1496909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910264" y="351900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SC-01-004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계정 아이콘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누르면 계정 메뉴가 열림 (Esc · 바깥을 누르면 닫힘)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마이페이지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내 프로젝트 · 내 정보 · 설정으로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로그아웃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서버 세션을 지우고 홈으로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역할별 메뉴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고객: 마이페이지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업체: 업체 홈 · 내 정보 · 설정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관리자: 관리자 화면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자주 묻는 질문</a:t>
            </a:r>
            <a:endParaRPr lang="en-US" sz="94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—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자주 묻는 질문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/faq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SC-01-005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자주 묻는 질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201968" y="2111629"/>
            <a:ext cx="4816263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049568" y="197827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208149" y="2476288"/>
            <a:ext cx="4803902" cy="1967845"/>
          </a:xfrm>
          <a:prstGeom prst="roundRect">
            <a:avLst>
              <a:gd name="adj" fmla="val 185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055749" y="234293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2201968" y="4393164"/>
            <a:ext cx="3765550" cy="353822"/>
          </a:xfrm>
          <a:prstGeom prst="roundRect">
            <a:avLst>
              <a:gd name="adj" fmla="val 103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2049568" y="425981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2201968" y="5097760"/>
            <a:ext cx="4816263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2049568" y="496441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SC-01-005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질문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누르면 답이 펼쳐지고 다시 누르면 접힘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평수별 비용 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평수 · 총비용 · 평당 가격 · 예상 기간 (올수리 기준)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기준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2025~2026년 수도권 · 반셀프 기준 · 턴키는 30~50% 더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반셀프와 턴키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두 방식의 차이와 비용 차이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8674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6153150"/>
            <a:ext cx="2705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들어오는 곳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헤더 메뉴 '자주 묻는 질문'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지역</a:t>
            </a:r>
            <a:endParaRPr lang="en-US" sz="94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1 지역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지역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95" y="990600"/>
            <a:ext cx="646521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5799000" y="1014502"/>
            <a:ext cx="288050" cy="288050"/>
          </a:xfrm>
          <a:prstGeom prst="roundRect">
            <a:avLst>
              <a:gd name="adj" fmla="val 1269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5646600" y="99060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185627" y="1722947"/>
            <a:ext cx="2848945" cy="1291352"/>
          </a:xfrm>
          <a:prstGeom prst="roundRect">
            <a:avLst>
              <a:gd name="adj" fmla="val 283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033227" y="158959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3185627" y="3009626"/>
            <a:ext cx="2848945" cy="2141485"/>
          </a:xfrm>
          <a:prstGeom prst="roundRect">
            <a:avLst>
              <a:gd name="adj" fmla="val 170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3033227" y="287627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5571871" y="6188770"/>
            <a:ext cx="462702" cy="330032"/>
          </a:xfrm>
          <a:prstGeom prst="roundRect">
            <a:avLst>
              <a:gd name="adj" fmla="val 1108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5419471" y="605542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닫기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창을 닫음. 답은 브라우저에 저장돼 다시 열면 이어서 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시 · 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2026.7 행정구역 개편 반영 (전남광주통합특별시 등)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시 · 군 · 구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시 · 도를 고르면 나옴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다음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고르기만 해서는 넘어가지 않고 '다음'을 눌러야 넘어감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빠진 답은 문장으로 알리고 그 칸으로 초점을 옮김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48958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181600"/>
            <a:ext cx="27051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한 화면에 질문 하나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헤더 '견적 받기'와 홈 '견적 받기 시작'이 같은 창을 엶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로그인 없이 끝까지 답할 수 있음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창은 주소가 바뀌지 않음 · 같은 질문을 /start에서 한 화면으로도 엶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창 높이는 화면에 맞추고 안쪽이 스크롤됨 (이 쪽은 펼쳐서 찍음)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집 종류</a:t>
            </a:r>
            <a:endParaRPr lang="en-US" sz="94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2 집 종류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집 종류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937468" y="2414482"/>
            <a:ext cx="3345265" cy="1008973"/>
          </a:xfrm>
          <a:prstGeom prst="roundRect">
            <a:avLst>
              <a:gd name="adj" fmla="val 362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785068" y="22811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937468" y="3428111"/>
            <a:ext cx="1664123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785068" y="3294761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집 종류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1차 범위는 아파트만. 나머지는 '준비 중이에요'로 막아 둠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준공 연도 (선택)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4자리 숫자 · 1960년 ~ 올해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8674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6153150"/>
            <a:ext cx="2705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집 종류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준공 연도는 공정표 · 견적 참고용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평수</a:t>
            </a:r>
            <a:endParaRPr lang="en-US" sz="94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3 평수 &gt; 정확히 적을게요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평수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937468" y="2414482"/>
            <a:ext cx="3345265" cy="798830"/>
          </a:xfrm>
          <a:prstGeom prst="roundRect">
            <a:avLst>
              <a:gd name="adj" fmla="val 457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785068" y="22811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937468" y="3217968"/>
            <a:ext cx="3345265" cy="1827138"/>
          </a:xfrm>
          <a:prstGeom prst="roundRect">
            <a:avLst>
              <a:gd name="adj" fmla="val 200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785068" y="308461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2937468" y="5049763"/>
            <a:ext cx="3345265" cy="390906"/>
          </a:xfrm>
          <a:prstGeom prst="roundRect">
            <a:avLst>
              <a:gd name="adj" fmla="val 935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2785068" y="491641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SC-02-003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평형대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10평대 ~ 50평 이상 중 대략 고르기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정확한 면적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공급면적(평형) · 전용면적(실평수)을 고르고 ㎡로 적음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소수점 한 자리까지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발코니 확장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도배 면적 계산에 더함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면적 기준을 함께 저장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면적은 ㎡와 기준(공급 · 전용)을 같이 저장하고 평은 보여 줄 때만 계산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공사 시기</a:t>
            </a:r>
            <a:endParaRPr lang="en-US" sz="94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4 시기 &gt; 날짜가 정해졌어요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공사 시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95" y="990600"/>
            <a:ext cx="646521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185627" y="1722947"/>
            <a:ext cx="2848945" cy="434987"/>
          </a:xfrm>
          <a:prstGeom prst="roundRect">
            <a:avLst>
              <a:gd name="adj" fmla="val 840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033227" y="158959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353555" y="2184747"/>
            <a:ext cx="1746921" cy="1725930"/>
          </a:xfrm>
          <a:prstGeom prst="roundRect">
            <a:avLst>
              <a:gd name="adj" fmla="val 211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201155" y="205139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시기 고르기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날짜 확정 · 이사 날만 · 1~2달 안 · 아직 몰라요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달력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시작하는 날과 끝나는 날을 차례로 누름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오늘 이전 · 2년 넘는 날은 막음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공사 시기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'이사하는 날만'은 날짜 하나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'1~2달 안' · '아직 몰라요'는 날짜 없이 넘어감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집 상태</a:t>
            </a:r>
            <a:endParaRPr lang="en-US" sz="94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5 집 상태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SC-02-005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집 상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937468" y="2414482"/>
            <a:ext cx="3345265" cy="1008973"/>
          </a:xfrm>
          <a:prstGeom prst="roundRect">
            <a:avLst>
              <a:gd name="adj" fmla="val 362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785068" y="22811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937468" y="5572802"/>
            <a:ext cx="534800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785068" y="543945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SC-02-005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집 상태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살면서 공사 · 빈집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이전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앞 질문으로. 답은 그대로 남음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집 상태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살면서 공사하면 예상 공정표의 작업 기간이 늘어남 (짐 있는 집 × 1.25)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예산</a:t>
            </a:r>
            <a:endParaRPr lang="en-US" sz="94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6 예산 (선택)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SC-02-006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예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937468" y="2414482"/>
            <a:ext cx="3345265" cy="1182031"/>
          </a:xfrm>
          <a:prstGeom prst="roundRect">
            <a:avLst>
              <a:gd name="adj" fmla="val 309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785068" y="22811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5163473" y="5572802"/>
            <a:ext cx="579803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5011073" y="543945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SC-02-006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예산 구간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300만 원 이하 ~ 1,000만 원 넘게 · 아직 정하지 않았어요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건너뛰기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선택 질문이라 답하지 않고 넘어갈 수 있음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예산은 안내에만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업체를 거르는 데 쓰지 않고 표준견적서와 비교해 안내하는 데만 씀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공정</a:t>
            </a:r>
            <a:endParaRPr lang="en-US" sz="94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7 공정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SC-02-007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공정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937468" y="2414482"/>
            <a:ext cx="1670304" cy="502158"/>
          </a:xfrm>
          <a:prstGeom prst="roundRect">
            <a:avLst>
              <a:gd name="adj" fmla="val 728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785068" y="22811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4612428" y="2414482"/>
            <a:ext cx="1670304" cy="502158"/>
          </a:xfrm>
          <a:prstGeom prst="roundRect">
            <a:avLst>
              <a:gd name="adj" fmla="val 728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4460028" y="22811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SC-02-007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도배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벽지 · 천장지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목공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몰딩 · 걸레받이 · 문 · 천장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1차 범위는 도배 · 목공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고른 공정에 따라 다음 질문(도배 · 목공 상세)이 생김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도배</a:t>
            </a:r>
            <a:endParaRPr lang="en-US" sz="94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8 도배 공간 · 유형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SC-02-008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도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937468" y="2582519"/>
            <a:ext cx="3345265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785068" y="244916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937468" y="2916275"/>
            <a:ext cx="3345265" cy="781447"/>
          </a:xfrm>
          <a:prstGeom prst="roundRect">
            <a:avLst>
              <a:gd name="adj" fmla="val 468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785068" y="278292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2937468" y="3702378"/>
            <a:ext cx="3345265" cy="786469"/>
          </a:xfrm>
          <a:prstGeom prst="roundRect">
            <a:avLst>
              <a:gd name="adj" fmla="val 465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2785068" y="356902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2937468" y="4493503"/>
            <a:ext cx="3345265" cy="558943"/>
          </a:xfrm>
          <a:prstGeom prst="roundRect">
            <a:avLst>
              <a:gd name="adj" fmla="val 654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2785068" y="436015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SC-02-008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빠른 추가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방 · 주방 · 거실 · 현관을 바로 넣음 (같은 이름은 번호를 붙임)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공간 직접 적기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예: 복도 · 20자까지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도배할 공간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넣은 공간 중 도배할 곳을 고름 · X로 공간 빼기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도배 유형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저가형 · 기본형 중 하나 (필수)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공간은 공정끼리 같이 씀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도배에서 넣은 공간을 목공에서도 고를 수 있음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목공</a:t>
            </a:r>
            <a:endParaRPr lang="en-US" sz="94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9 목공 공간 · 항목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SC-02-009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목공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95" y="990600"/>
            <a:ext cx="646521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185627" y="2816444"/>
            <a:ext cx="2848945" cy="676383"/>
          </a:xfrm>
          <a:prstGeom prst="roundRect">
            <a:avLst>
              <a:gd name="adj" fmla="val 540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033227" y="268309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185627" y="3488154"/>
            <a:ext cx="2848945" cy="1007974"/>
          </a:xfrm>
          <a:prstGeom prst="roundRect">
            <a:avLst>
              <a:gd name="adj" fmla="val 362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033227" y="335480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SC-02-009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목공할 공간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도배에서 넣은 공간이 그대로 보임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목공 항목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천장 몰딩 · 걸레받이 · 방문 교체 · 천장 평탄화 (하나 이상)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8674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6153150"/>
            <a:ext cx="2705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목공 항목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항목마다 무엇인지 한 줄 설명을 붙임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공간별 사진</a:t>
            </a:r>
            <a:endParaRPr lang="en-US" sz="94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10 공간별 사진 (선택)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SC-02-010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공간별 사진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95" y="990600"/>
            <a:ext cx="646521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185627" y="1722947"/>
            <a:ext cx="2848945" cy="298546"/>
          </a:xfrm>
          <a:prstGeom prst="roundRect">
            <a:avLst>
              <a:gd name="adj" fmla="val 1225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033227" y="158959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185627" y="2016820"/>
            <a:ext cx="2848945" cy="749851"/>
          </a:xfrm>
          <a:prstGeom prst="roundRect">
            <a:avLst>
              <a:gd name="adj" fmla="val 487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033227" y="188347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5075632" y="6188770"/>
            <a:ext cx="500912" cy="330032"/>
          </a:xfrm>
          <a:prstGeom prst="roundRect">
            <a:avLst>
              <a:gd name="adj" fmla="val 1108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4923232" y="605542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SC-02-010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공간 고르기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고른 공정에 들어간 공간만 · 공간마다 올린 장수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공간 사진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여러 장 · 공간마다 10장 · 한 장 10MB까지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JPG · PNG · WEBP · HEIC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건너뛰기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사진 없이 다음 질문(도면)으로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2197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5505450"/>
            <a:ext cx="27051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사진은 저장 전에 정리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올릴 때 위치(GPS) · EXIF를 지우고 HEIC는 JPEG로 바꿈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파일 형식은 이름이 아니라 파일 앞부분으로 확인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이 쪽은 창 안쪽 스크롤을 펼쳐서 찍음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도면</a:t>
            </a:r>
            <a:endParaRPr lang="en-US" sz="94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11 도면 (선택)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SC-02-011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도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95" y="990600"/>
            <a:ext cx="646521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185627" y="1722947"/>
            <a:ext cx="2848945" cy="854806"/>
          </a:xfrm>
          <a:prstGeom prst="roundRect">
            <a:avLst>
              <a:gd name="adj" fmla="val 427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033227" y="158959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5075632" y="6188770"/>
            <a:ext cx="500912" cy="330032"/>
          </a:xfrm>
          <a:prstGeom prst="roundRect">
            <a:avLst>
              <a:gd name="adj" fmla="val 1108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4923232" y="605542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SC-02-011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아파트 도면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사진이나 PDF · 5개 · 하나 20MB까지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건너뛰기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도면 없이 확인으로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공간 사진과 따로 받음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공간을 바꿀 때마다 도면 칸이 다시 보이지 않게 질문을 나눔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견적 받기 · 확인</a:t>
            </a:r>
            <a:endParaRPr lang="en-US" sz="94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FFW-03, FFW-04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견적 받기 &gt; 12 확인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/start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SC-02-012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견적 받기 · 확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937468" y="2414482"/>
            <a:ext cx="3345265" cy="3611033"/>
          </a:xfrm>
          <a:prstGeom prst="roundRect">
            <a:avLst>
              <a:gd name="adj" fmla="val 109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785068" y="22811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5642089" y="2606082"/>
            <a:ext cx="498488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5489689" y="24727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5235131" y="5572802"/>
            <a:ext cx="1047602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5082731" y="543945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SC-02-012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답 요약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지역 · 집 · 평수 · 시기 · 집 상태 · 예산 · 공정 · 사진 · 도면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고치기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그 질문으로 돌아가 고친 뒤 다시 확인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프로젝트 만들기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로그인 확인 → 사진 · 도면 올리기 → 프로젝트 저장 → 진행 현황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로그인 안 했으면 로그인 뒤 이 화면으로 돌아옴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실패해도 답은 남음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올리다 실패하면 답과 사진이 그대로 남음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다시 누르면 이미 올린 사진은 다시 올리지 않음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내 프로젝트</a:t>
            </a:r>
            <a:endParaRPr lang="en-US" sz="94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FFW-18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마이페이지 &gt; 내 프로젝트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/my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내 프로젝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121620" y="1536827"/>
            <a:ext cx="4976961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969220" y="140347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263775" y="3078903"/>
            <a:ext cx="4692650" cy="442669"/>
          </a:xfrm>
          <a:prstGeom prst="roundRect">
            <a:avLst>
              <a:gd name="adj" fmla="val 826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111375" y="294555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2263775" y="3538590"/>
            <a:ext cx="891540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2111375" y="340524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3159972" y="3538590"/>
            <a:ext cx="780288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3007572" y="340524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mark-box-5"/>
          <p:cNvSpPr/>
          <p:nvPr/>
        </p:nvSpPr>
        <p:spPr>
          <a:xfrm>
            <a:off x="2121620" y="5352037"/>
            <a:ext cx="883718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5" name="mark-5"/>
          <p:cNvSpPr/>
          <p:nvPr/>
        </p:nvSpPr>
        <p:spPr>
          <a:xfrm>
            <a:off x="1969220" y="521868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6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7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8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SC-03-001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마이페이지 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내 프로젝트 · 내 정보 · 설정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공정별 상태 한 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내 차례 · 업체 차례 · 일정 확정 중 하나와 할 일 한 문장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할 일 버튼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지금 해야 할 일 하나로 바로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프로젝트 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진행 현황으로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새 견적 받기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견적 받기 창을 엶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2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내 프로젝트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진행 중인 프로젝트를 위에, 끝난 프로젝트는 '지난 프로젝트'로 접어 둠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프로젝트 진행 현황</a:t>
            </a:r>
            <a:endParaRPr lang="en-US" sz="94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FFW-18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내 프로젝트 &gt; 프로젝트 보기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/projects/[id]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프로젝트 진행 현황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1724661"/>
            <a:ext cx="7078387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1591311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070906" y="2274741"/>
            <a:ext cx="5049584" cy="1616996"/>
          </a:xfrm>
          <a:prstGeom prst="roundRect">
            <a:avLst>
              <a:gd name="adj" fmla="val 22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918506" y="2141391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1070906" y="3958200"/>
            <a:ext cx="5049584" cy="2044234"/>
          </a:xfrm>
          <a:prstGeom prst="roundRect">
            <a:avLst>
              <a:gd name="adj" fmla="val 178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918506" y="382485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6236399" y="2274741"/>
            <a:ext cx="1912895" cy="3998870"/>
          </a:xfrm>
          <a:prstGeom prst="roundRect">
            <a:avLst>
              <a:gd name="adj" fmla="val 191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6083999" y="2141391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프로젝트 단계 메뉴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진행 현황 · 1~6단계 · 이력으로 이동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지금 볼 수 있는 단계만 눌린다 (아직 연결 전이면 흐리게)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지금 단계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지금 상태와 다음에 할 일 · 버튼 하나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올린 사진 · 도면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공간별 장수 · 본인 · 관리자만 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기본정보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견적 받기에서 답한 내용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38162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667375"/>
            <a:ext cx="27051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실제 프로젝트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저장된 답 · 사진을 API에서 읽어 보여 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예상 공정표 · 표준견적서 등 1~6단계는 아직 연결 전이라 흐리게 표시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진행 현황 (예시)</a:t>
            </a:r>
            <a:endParaRPr lang="en-US" sz="94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FFW-18 ~ FFW-21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내 프로젝트 &gt; 예시 프로젝트 보기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진행 현황 (예시)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2281018"/>
            <a:ext cx="5049584" cy="1616996"/>
          </a:xfrm>
          <a:prstGeom prst="roundRect">
            <a:avLst>
              <a:gd name="adj" fmla="val 22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214766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070906" y="3964477"/>
            <a:ext cx="5049584" cy="1980110"/>
          </a:xfrm>
          <a:prstGeom prst="roundRect">
            <a:avLst>
              <a:gd name="adj" fmla="val 184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918506" y="383112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SC-03-003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지금 단계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상태 설명 · 다음 할 일 버튼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공정별 진행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공정마다 가견적 · 실측 · 실측 견적 · 확정 업체 · 공사기간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예시 데이터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업체 · 견적 · 공정표 API를 만들기 전이라 예시 데이터로 그린 화면 (3~6단계 공통)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예상 공정표</a:t>
            </a:r>
            <a:endParaRPr lang="en-US" sz="94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FAG-01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1 예상 공정표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/projects/p1/plan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예상 공정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765" y="990600"/>
            <a:ext cx="7138670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6916658" y="1365277"/>
            <a:ext cx="1013222" cy="358457"/>
          </a:xfrm>
          <a:prstGeom prst="roundRect">
            <a:avLst>
              <a:gd name="adj" fmla="val 1020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6764258" y="123192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296114" y="2404643"/>
            <a:ext cx="6627971" cy="2814910"/>
          </a:xfrm>
          <a:prstGeom prst="roundRect">
            <a:avLst>
              <a:gd name="adj" fmla="val 129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143714" y="227129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그림 파일로 저장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공정표를 PNG로 저장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작업별 예상 일정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위 줄 월 · 아래 줄 일 · 하루 한 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휴무일(일요일 · 공휴일)은 회색 칸 · 목공 → 도배 순서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2197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505450"/>
            <a:ext cx="27051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에이전트 FAG-01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날짜 · 기간은 계산 엔진이, 순서 설명 · 참고사항은 에이전트가 만듦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LLM이 실패하면 계산 결과만 보여 주고 '설명을 만들지 못했어요'라고 알림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에이전트가 쓴 글에는 AI 안내 문구를 붙임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예상 공정표 · 이유와 할 일</a:t>
            </a:r>
            <a:endParaRPr lang="en-US" sz="94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FAG-01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1 예상 공정표 &gt; 아래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/projects/p1/plan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예상 공정표 · 이유와 할 일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1808197"/>
            <a:ext cx="5049584" cy="1876970"/>
          </a:xfrm>
          <a:prstGeom prst="roundRect">
            <a:avLst>
              <a:gd name="adj" fmla="val 194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167484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6236399" y="1808197"/>
            <a:ext cx="1912895" cy="3465788"/>
          </a:xfrm>
          <a:prstGeom prst="roundRect">
            <a:avLst>
              <a:gd name="adj" fmla="val 191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083999" y="167484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SC-03-004 ·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이렇게 잡은 이유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작업마다 기간 근거 (품 ÷ 인원 × 짐 있는 집)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참고사항 · 할 일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날짜별 고객 · 업체 할 일 (벽지 고르기, 관리사무소 신고 등)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예상 공정표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실제 일정은 업체 확정 뒤 확정 공정표로 따로 보여 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표준견적서</a:t>
            </a:r>
            <a:endParaRPr lang="en-US" sz="94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FFW-05, FBF-04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2 표준견적서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/projects/p1/standard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SC-03-005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표준견적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765" y="990600"/>
            <a:ext cx="7138670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290320" y="1805650"/>
            <a:ext cx="6639560" cy="824271"/>
          </a:xfrm>
          <a:prstGeom prst="roundRect">
            <a:avLst>
              <a:gd name="adj" fmla="val 44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137920" y="167230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296114" y="3310829"/>
            <a:ext cx="6627971" cy="2785848"/>
          </a:xfrm>
          <a:prstGeom prst="roundRect">
            <a:avLst>
              <a:gd name="adj" fmla="val 131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143714" y="317747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SC-03-005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기준 금액 요약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도배 · 목공 · 합계 (부가세 · 일부 자재 제외)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도배 산출 내역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항목 · 수량 · 공공 단가 · 금액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공공 가격이 없는 줄은 '공공 가격 없음'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업체 견적이 아님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공공 기준 단가로 믿집이 계산한 참고 금액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견적을 만든 때의 단가 버전을 고정해 둠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표준견적서 · 출처</a:t>
            </a:r>
            <a:endParaRPr lang="en-US" sz="94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FFW-05, FBF-04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2 표준견적서 &gt; 아래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/projects/p1/standard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SC-03-005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표준견적서 · 출처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7087" y="2045380"/>
            <a:ext cx="7066026" cy="2336367"/>
          </a:xfrm>
          <a:prstGeom prst="roundRect">
            <a:avLst>
              <a:gd name="adj" fmla="val 156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24687" y="191203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070906" y="4479114"/>
            <a:ext cx="5049584" cy="1708933"/>
          </a:xfrm>
          <a:prstGeom prst="roundRect">
            <a:avLst>
              <a:gd name="adj" fmla="val 214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918506" y="434576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SC-03-005 ·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목공 산출 내역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몰딩 · 걸레받이 길이 기준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데이터 출처와 적용 시점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공고일 · 적용일 · 수량 산식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38162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667375"/>
            <a:ext cx="27051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비교 기준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가견적 비교 화면에서 같은 줄끼리 비교하는 기준 열이 됨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자재비 · 철거 · 짐 이동 · 이윤은 넣지 않고 업체 가견적에서 확인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고르기 · 추천</a:t>
            </a:r>
            <a:endParaRPr lang="en-US" sz="94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FFW-06, FFW-07, FAG-02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3 업체 고르기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/projects/p1/vendors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SC-03-006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고르기 · 추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22" y="990600"/>
            <a:ext cx="7290557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220294" y="1201135"/>
            <a:ext cx="4837140" cy="341198"/>
          </a:xfrm>
          <a:prstGeom prst="roundRect">
            <a:avLst>
              <a:gd name="adj" fmla="val 107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067894" y="106778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220294" y="1603536"/>
            <a:ext cx="4837140" cy="4978239"/>
          </a:xfrm>
          <a:prstGeom prst="roundRect">
            <a:avLst>
              <a:gd name="adj" fmla="val 75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067894" y="147018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4514951" y="1786984"/>
            <a:ext cx="1406376" cy="199174"/>
          </a:xfrm>
          <a:prstGeom prst="roundRect">
            <a:avLst>
              <a:gd name="adj" fmla="val 1836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4362551" y="165363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4915780" y="2118373"/>
            <a:ext cx="1005547" cy="317527"/>
          </a:xfrm>
          <a:prstGeom prst="roundRect">
            <a:avLst>
              <a:gd name="adj" fmla="val 1151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4763380" y="198502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mark-box-5"/>
          <p:cNvSpPr/>
          <p:nvPr/>
        </p:nvSpPr>
        <p:spPr>
          <a:xfrm>
            <a:off x="6165978" y="1201135"/>
            <a:ext cx="1833927" cy="2204521"/>
          </a:xfrm>
          <a:prstGeom prst="roundRect">
            <a:avLst>
              <a:gd name="adj" fmla="val 199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5" name="mark-5"/>
          <p:cNvSpPr/>
          <p:nvPr/>
        </p:nvSpPr>
        <p:spPr>
          <a:xfrm>
            <a:off x="6013578" y="106778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6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7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8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SC-03-006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공정 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도배 · 목공 · 담은 업체 수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추천 3곳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승인된 업체 중 시공 지역 · 공정 · 일정이 맞는 곳에서 3곳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믿집이 고른 이유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추천 이유 · 살펴볼 점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요청함에 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공정별로 여러 곳을 담음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견적 요청함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공정별 담은 업체 · 표준견적 금액 · 요청 확인으로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2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에이전트 FAG-02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거르기는 SQL, 점수는 계산 엔진, LLM은 상위 후보 중 3곳과 이유만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후보 밖 업체는 버림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고르기 · 전체 목록</a:t>
            </a:r>
            <a:endParaRPr lang="en-US" sz="94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FFW-06, FFW-08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3 업체 고르기 &gt; 전체 업체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/projects/p1/vendors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SC-03-006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고르기 · 전체 목록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213062" y="1651652"/>
            <a:ext cx="3454972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060662" y="151830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4685051" y="1651652"/>
            <a:ext cx="1293283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4532651" y="151830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1213062" y="2277058"/>
            <a:ext cx="1585320" cy="553921"/>
          </a:xfrm>
          <a:prstGeom prst="roundRect">
            <a:avLst>
              <a:gd name="adj" fmla="val 660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1060662" y="214370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1213062" y="3095224"/>
            <a:ext cx="4765273" cy="1240072"/>
          </a:xfrm>
          <a:prstGeom prst="roundRect">
            <a:avLst>
              <a:gd name="adj" fmla="val 295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1060662" y="296187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SC-03-006 · 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업체 이름으로 찾기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이름 일부로 거르기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정렬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후기 많은 순 · 평점 높은 순 · 시공 사례 많은 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조건 거르기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우리 동네 시공 · 토요일 작업 · 실내건축공사업 등록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업체 카드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믿집 확인 · 업체가 적은 정보 · 믿집 기록을 나눠 보여 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정보 출처를 나눔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믿집이 확인한 것과 업체가 적은 것을 섞지 않음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전화번호는 보여 주지 않음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상세</a:t>
            </a:r>
            <a:endParaRPr lang="en-US" sz="94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FFW-09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 고르기 &gt; 업체 정보 보기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/vendors/v1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SC-03-007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상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609" y="990600"/>
            <a:ext cx="6992983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357487" y="2502383"/>
            <a:ext cx="4642038" cy="2491320"/>
          </a:xfrm>
          <a:prstGeom prst="roundRect">
            <a:avLst>
              <a:gd name="adj" fmla="val 146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205087" y="236903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357487" y="5050075"/>
            <a:ext cx="4642038" cy="1531700"/>
          </a:xfrm>
          <a:prstGeom prst="roundRect">
            <a:avLst>
              <a:gd name="adj" fmla="val 238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205087" y="491672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SC-03-007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시공 사례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업체가 올린 사진과 설명 (맨 위)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업체가 적은 정보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팀 · 경력 · A/S · 토요일 작업 · 실측비 (믿집이 확인하지 않음)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8674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6153150"/>
            <a:ext cx="2705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업체 상세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승인된 업체만 목록 · 상세 · 추천에 나옴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상세 · 기록</a:t>
            </a:r>
            <a:endParaRPr lang="en-US" sz="94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FFW-09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 고르기 &gt; 업체 정보 보기 &gt; 아래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/vendors/v1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SC-03-007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상세 · 기록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3815368"/>
            <a:ext cx="5049584" cy="1472909"/>
          </a:xfrm>
          <a:prstGeom prst="roundRect">
            <a:avLst>
              <a:gd name="adj" fmla="val 248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368201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070906" y="5354741"/>
            <a:ext cx="5049584" cy="1227034"/>
          </a:xfrm>
          <a:prstGeom prst="roundRect">
            <a:avLst>
              <a:gd name="adj" fmla="val 298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918506" y="5221391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SC-03-007 ·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믿집 기록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평점 · 후기 · 응답 시간 · 승인일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사업자 정보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평소에는 접어 둠 · 믿집은 거래 당사자가 아님을 안내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평점 · 후기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후기 기능을 만들 때 확정 업체의 고객만 쓰게 함 (지금은 예시 값)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가견적 요청 확인</a:t>
            </a:r>
            <a:endParaRPr lang="en-US" sz="94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FFW-10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 고르기 &gt; 요청함에 담기 &gt; 가견적 요청 확인하기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/projects/p1/request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SC-03-008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가견적 요청 확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2906424"/>
            <a:ext cx="5049584" cy="2471473"/>
          </a:xfrm>
          <a:prstGeom prst="roundRect">
            <a:avLst>
              <a:gd name="adj" fmla="val 148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277307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5631176" y="3042399"/>
            <a:ext cx="347158" cy="225187"/>
          </a:xfrm>
          <a:prstGeom prst="roundRect">
            <a:avLst>
              <a:gd name="adj" fmla="val 1624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5478776" y="290904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6236399" y="2281018"/>
            <a:ext cx="1912895" cy="2270215"/>
          </a:xfrm>
          <a:prstGeom prst="roundRect">
            <a:avLst>
              <a:gd name="adj" fmla="val 191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083999" y="214766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6378554" y="4042894"/>
            <a:ext cx="1628585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6226154" y="390954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SC-03-008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보내는 조건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집 · 시기 · 공정 · 사진을 담은 업체 모두에 같은 조건으로 보냄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고치기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견적 받기 답을 고침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받는 업체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공정별로 담은 업체 · 더 고르기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가견적 요청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요청을 보내고 가견적 비교 화면으로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38162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667375"/>
            <a:ext cx="27051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같은 조건으로 요청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이름 · 연락처 · 동 · 호수는 보내지 않음 (실측 요청한 업체에만 보임)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업체가 제출하면 가견적서가 바로 프로젝트에 등록됨 (FFV-03)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가견적 비교</a:t>
            </a:r>
            <a:endParaRPr lang="en-US" sz="94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FFW-11, FBF-05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4 가견적 비교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/projects/p1/quotes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SC-03-009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가견적 비교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538" y="990600"/>
            <a:ext cx="6853123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421968" y="1186789"/>
            <a:ext cx="6376264" cy="324155"/>
          </a:xfrm>
          <a:prstGeom prst="roundRect">
            <a:avLst>
              <a:gd name="adj" fmla="val 1128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269568" y="105343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421968" y="1587296"/>
            <a:ext cx="6376264" cy="460438"/>
          </a:xfrm>
          <a:prstGeom prst="roundRect">
            <a:avLst>
              <a:gd name="adj" fmla="val 794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269568" y="145394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1427531" y="2129650"/>
            <a:ext cx="6365138" cy="4452125"/>
          </a:xfrm>
          <a:prstGeom prst="roundRect">
            <a:avLst>
              <a:gd name="adj" fmla="val 82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1275131" y="199630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SC-03-009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공정 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도배 · 목공 · 도착한 가견적 수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요청 상태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업체마다 요청일 · 도착일 · 상태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표준견적서와 비교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같은 줄끼리 표준견적서 열과 업체 열을 나란히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포함 · 묶음 · 별도 · 선택 · 실측 후 · 안 함 표시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38162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5667375"/>
            <a:ext cx="27051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비교 기준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합계에는 '포함'과 '따로 계산'만 들어감 (계산 엔진)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표준견적서는 공공 단가가 있는 줄만 더해 업체 합계와 바로 같지 않음을 안내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가견적 비교 · 실측 요청</a:t>
            </a:r>
            <a:endParaRPr lang="en-US" sz="94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FFW-11, FFW-12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4 가견적 비교 &gt; 아래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/projects/p1/quotes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SC-03-009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가견적 비교 · 실측 요청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2329015"/>
            <a:ext cx="7078387" cy="2401554"/>
          </a:xfrm>
          <a:prstGeom prst="roundRect">
            <a:avLst>
              <a:gd name="adj" fmla="val 152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219566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070906" y="4821755"/>
            <a:ext cx="7078387" cy="1362430"/>
          </a:xfrm>
          <a:prstGeom prst="roundRect">
            <a:avLst>
              <a:gd name="adj" fmla="val 268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918506" y="468840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SC-03-009 ·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업체 가견적서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포함 상태 6가지의 뜻 · 업체별 전체 가견적서 (부가세 따로)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실측 요청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공정마다 한 곳에 실측 요청 (희망일 · 시간대 · 동 · 호수 · 동의)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실측 요청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실측은 공정마다 한 번에 한 곳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동 · 호수는 업체가 요청을 확인한 뒤에 보임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실측 견적 · 확정 후</a:t>
            </a:r>
            <a:endParaRPr lang="en-US" sz="94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FFW-13, FFW-15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5 실측 견적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/projects/p1/measure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SC-03-010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실측 견적 · 확정 후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2243934"/>
            <a:ext cx="7078387" cy="353822"/>
          </a:xfrm>
          <a:prstGeom prst="roundRect">
            <a:avLst>
              <a:gd name="adj" fmla="val 103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211058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213062" y="3127769"/>
            <a:ext cx="1357794" cy="205486"/>
          </a:xfrm>
          <a:prstGeom prst="roundRect">
            <a:avLst>
              <a:gd name="adj" fmla="val 178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060662" y="299441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1070906" y="3845885"/>
            <a:ext cx="5049584" cy="1671463"/>
          </a:xfrm>
          <a:prstGeom prst="roundRect">
            <a:avLst>
              <a:gd name="adj" fmla="val 218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918506" y="371253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1070906" y="3845885"/>
            <a:ext cx="5049584" cy="1671463"/>
          </a:xfrm>
          <a:prstGeom prst="roundRect">
            <a:avLst>
              <a:gd name="adj" fmla="val 218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918506" y="371253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mark-box-5"/>
          <p:cNvSpPr/>
          <p:nvPr/>
        </p:nvSpPr>
        <p:spPr>
          <a:xfrm>
            <a:off x="6236399" y="2688942"/>
            <a:ext cx="1912895" cy="1909419"/>
          </a:xfrm>
          <a:prstGeom prst="roundRect">
            <a:avLst>
              <a:gd name="adj" fmla="val 191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5" name="mark-5"/>
          <p:cNvSpPr/>
          <p:nvPr/>
        </p:nvSpPr>
        <p:spPr>
          <a:xfrm>
            <a:off x="6083999" y="255559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6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7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8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SC-03-010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공정 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도배 · 목공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실측 견적 금액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업체가 실측 뒤 낸 금액 · 가견적과 차이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실측에서 확인한 것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업체가 현장에서 본 것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바뀐 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가견적에서 바뀐 줄만 모아 보여 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업체 확정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확정한 날 · 다음 단계 안내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2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사람이 눌러야 확정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업체 확정 · 다시 고르기는 고객이 누른 요청으로만 일어남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실측 견적 · 확정 전</a:t>
            </a:r>
            <a:endParaRPr lang="en-US" sz="94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FFW-13, FFW-14, FFW-15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5 실측 견적 &gt; 확정 전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/projects/p1/measure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SC-03-010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실측 견적 · 확정 전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6236399" y="2688942"/>
            <a:ext cx="1912895" cy="2594314"/>
          </a:xfrm>
          <a:prstGeom prst="roundRect">
            <a:avLst>
              <a:gd name="adj" fmla="val 191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6083999" y="255559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9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0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SC-03-010 · 2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확정 · 다시 고르기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이 업체로 확정하거나, 가견적 받은 다른 업체에 실측 요청 · 새 업체에 가견적 요청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cp-head"/>
          <p:cNvSpPr txBox="1"/>
          <p:nvPr/>
        </p:nvSpPr>
        <p:spPr>
          <a:xfrm>
            <a:off x="9029700" y="58674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4" name="cp-body"/>
          <p:cNvSpPr txBox="1"/>
          <p:nvPr/>
        </p:nvSpPr>
        <p:spPr>
          <a:xfrm>
            <a:off x="9105900" y="6153150"/>
            <a:ext cx="2705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다시 고르기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이전 업체는 '넘김'으로 남고 이력에 기록됨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확정 공정표</a:t>
            </a:r>
            <a:endParaRPr lang="en-US" sz="94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FFW-16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6 확정 공정표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/projects/p1/schedule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SC-03-011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확정 공정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609" y="990600"/>
            <a:ext cx="6992983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6869002" y="1357048"/>
            <a:ext cx="993710" cy="352308"/>
          </a:xfrm>
          <a:prstGeom prst="roundRect">
            <a:avLst>
              <a:gd name="adj" fmla="val 1038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6716602" y="122369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363164" y="1794109"/>
            <a:ext cx="6493873" cy="1219425"/>
          </a:xfrm>
          <a:prstGeom prst="roundRect">
            <a:avLst>
              <a:gd name="adj" fmla="val 299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210764" y="166075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1363164" y="3103963"/>
            <a:ext cx="6493873" cy="3477812"/>
          </a:xfrm>
          <a:prstGeom prst="roundRect">
            <a:avLst>
              <a:gd name="adj" fmla="val 105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1210764" y="297061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SC-03-011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그림 파일로 저장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PNG 저장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공정별 확정 업체 · 공사기간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공정 · 업체 · 시작일 · 종료 예정일 · 일하는 날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작업별 확정 일정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월 · 일 머리줄 · 하루 한 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휴무일은 회색 칸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확정 공정표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확정 업체가 등록한 공사기간으로 계산 엔진이 일정을 만듦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업체가 공사기간을 고치면 바로 반영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확정 공정표 · 비교와 할 일</a:t>
            </a:r>
            <a:endParaRPr lang="en-US" sz="94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FFW-16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6 확정 공정표 &gt; 아래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/projects/p1/schedule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SC-03-011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확정 공정표 · 비교와 할 일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25707"/>
            <a:ext cx="8610600" cy="4892386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611703" y="3915760"/>
            <a:ext cx="5702614" cy="1354943"/>
          </a:xfrm>
          <a:prstGeom prst="roundRect">
            <a:avLst>
              <a:gd name="adj" fmla="val 269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459303" y="378241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6452863" y="3915760"/>
            <a:ext cx="2155634" cy="1885679"/>
          </a:xfrm>
          <a:prstGeom prst="roundRect">
            <a:avLst>
              <a:gd name="adj" fmla="val 194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300463" y="378241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SC-03-011 ·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예상 공정표와 비교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예상 기간 → 확정 기간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공사 전에 할 일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관리사무소 신고 · 엘리베이터 예약 등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공사기간 변경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공사기간은 확정 업체가 고객과 합의해 등록 · 수정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이력</a:t>
            </a:r>
            <a:endParaRPr lang="en-US" sz="94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FFW-22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프로젝트 &gt; 이력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/projects/p1/history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SC-03-012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이력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121620" y="2931147"/>
            <a:ext cx="4976961" cy="353822"/>
          </a:xfrm>
          <a:prstGeom prst="roundRect">
            <a:avLst>
              <a:gd name="adj" fmla="val 103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969220" y="279779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121620" y="3376155"/>
            <a:ext cx="4976961" cy="3205620"/>
          </a:xfrm>
          <a:prstGeom prst="roundRect">
            <a:avLst>
              <a:gd name="adj" fmla="val 114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969220" y="324280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SC-03-012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공정으로 거르기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전체 · 도배 · 목공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날짜별 기록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요청 · 도착 · 실측 · 확정 · 공사기간 등록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이력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상태가 바뀔 때마다 같은 트랜잭션에 기록을 남김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내 정보 · 설정</a:t>
            </a:r>
            <a:endParaRPr lang="en-US" sz="94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FFW-17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메인 &gt; 마이페이지 &gt; 내 정보 · 설정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/account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SC-03-013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내 정보 · 설정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572808" y="2828586"/>
            <a:ext cx="2986786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420408" y="269523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572808" y="4079399"/>
            <a:ext cx="2986786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420408" y="394604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2430653" y="4765453"/>
            <a:ext cx="3271097" cy="1135676"/>
          </a:xfrm>
          <a:prstGeom prst="roundRect">
            <a:avLst>
              <a:gd name="adj" fmla="val 32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2278253" y="463210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SC-03-013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이름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고칠 수 있음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저장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바꾼 이름을 저장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회원 탈퇴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탈퇴 화면으로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내 정보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이메일은 로그인 아이디라 바꾸지 않음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업체 회원도 같은 화면을 씀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회원 탈퇴</a:t>
            </a:r>
            <a:endParaRPr lang="en-US" sz="94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FFW-17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내 정보 · 설정 &gt; 회원 탈퇴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/account/withdraw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SC-03-014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회원 탈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190875" y="4248595"/>
            <a:ext cx="2838450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038475" y="411524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190875" y="4874001"/>
            <a:ext cx="2838450" cy="378545"/>
          </a:xfrm>
          <a:prstGeom prst="roundRect">
            <a:avLst>
              <a:gd name="adj" fmla="val 9662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038475" y="4740651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SC-03-014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비밀번호 확인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본인 확인 (틀리면 탈퇴 안 됨)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탈퇴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DB 기록과 디스크 파일을 지우고 홈으로 ('탈퇴했어요' 안내)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2197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505450"/>
            <a:ext cx="27051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회원 탈퇴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회원 정보 · 프로젝트 · 사진 · 도면 · 로그인 기록을 바로 지움 (되살릴 수 없음)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진행 중인 프로젝트가 있어도 탈퇴 가능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관리자 계정은 탈퇴 화면으로 지울 수 없음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회원가입</a:t>
            </a:r>
            <a:endParaRPr lang="en-US" sz="94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FFV-01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로그인 &gt; 회원가입 &gt; 업체로 가입하기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/signup/vendor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SC-04-001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회원가입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344" y="990600"/>
            <a:ext cx="6011512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3483643" y="2164205"/>
            <a:ext cx="2252913" cy="482579"/>
          </a:xfrm>
          <a:prstGeom prst="roundRect">
            <a:avLst>
              <a:gd name="adj" fmla="val 757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3331243" y="203085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3483643" y="2677465"/>
            <a:ext cx="2252913" cy="638722"/>
          </a:xfrm>
          <a:prstGeom prst="roundRect">
            <a:avLst>
              <a:gd name="adj" fmla="val 572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3331243" y="254411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3483643" y="3346868"/>
            <a:ext cx="2252913" cy="638722"/>
          </a:xfrm>
          <a:prstGeom prst="roundRect">
            <a:avLst>
              <a:gd name="adj" fmla="val 572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3331243" y="321351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3483643" y="4529530"/>
            <a:ext cx="2252913" cy="701241"/>
          </a:xfrm>
          <a:prstGeom prst="roundRect">
            <a:avLst>
              <a:gd name="adj" fmla="val 521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3331243" y="439618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mark-box-5"/>
          <p:cNvSpPr/>
          <p:nvPr/>
        </p:nvSpPr>
        <p:spPr>
          <a:xfrm>
            <a:off x="3483643" y="5261451"/>
            <a:ext cx="2252913" cy="956803"/>
          </a:xfrm>
          <a:prstGeom prst="roundRect">
            <a:avLst>
              <a:gd name="adj" fmla="val 3823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5" name="mark-5"/>
          <p:cNvSpPr/>
          <p:nvPr/>
        </p:nvSpPr>
        <p:spPr>
          <a:xfrm>
            <a:off x="3331243" y="5128101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6" name="mark-box-6"/>
          <p:cNvSpPr/>
          <p:nvPr/>
        </p:nvSpPr>
        <p:spPr>
          <a:xfrm>
            <a:off x="3483643" y="6248935"/>
            <a:ext cx="2252913" cy="310883"/>
          </a:xfrm>
          <a:prstGeom prst="roundRect">
            <a:avLst>
              <a:gd name="adj" fmla="val 1176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7" name="mark-6"/>
          <p:cNvSpPr/>
          <p:nvPr/>
        </p:nvSpPr>
        <p:spPr>
          <a:xfrm>
            <a:off x="3331243" y="6115585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18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9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20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SC-04-001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담당자 이름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업체 담당자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이메일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로그인 아이디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비밀번호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칸 아래 안내: 영문, 숫자, 8자 이상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사업자등록증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끌어다 놓거나 눌러서 고름 (도면 칸과 같은 영역)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JPG · PNG · PDF · 관리자와 그 업체만 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약관 동의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이용약관 · 개인정보 (필수)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5FAE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233"/>
                          </a:solidFill>
                        </a:rPr>
                        <a:t>가입 신청하기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860" dirty="0">
                          <a:solidFill>
                            <a:srgbClr val="3A4659"/>
                          </a:solidFill>
                        </a:rPr>
                        <a:t>가입 → 업체 홈 '승인 대기'로 이동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4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사업자등록증만 받음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상호 · 시공 지역 등 업체 정보는 승인 뒤 업체 정보 관리(FFV-08)에서 받음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홈 · 승인 대기</a:t>
            </a:r>
            <a:endParaRPr lang="en-US" sz="94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FBF-01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 가입 &gt; 업체 홈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/vendor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SC-04-002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홈 · 승인 대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05272"/>
            <a:ext cx="8610600" cy="4333256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149310" y="3205163"/>
            <a:ext cx="4921580" cy="890166"/>
          </a:xfrm>
          <a:prstGeom prst="roundRect">
            <a:avLst>
              <a:gd name="adj" fmla="val 410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996910" y="307181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9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0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SC-04-002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승인 상태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승인 대기 · 승인 · 반려 중 지금 상태를 보여 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4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승인 상태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승인 대기 · 승인 · 반려 중 하나를 보여 줌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승인 전에는 견적 요청을 받지 않음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홈 · 반려</a:t>
            </a:r>
            <a:endParaRPr lang="en-US" sz="94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FBF-01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 홈 (반려됨)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/vendor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SC-04-002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홈 · 반려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05272"/>
            <a:ext cx="8610600" cy="4333256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310060" y="3701390"/>
            <a:ext cx="4600080" cy="437184"/>
          </a:xfrm>
          <a:prstGeom prst="roundRect">
            <a:avLst>
              <a:gd name="adj" fmla="val 836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2157660" y="3568040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310060" y="4467136"/>
            <a:ext cx="815907" cy="420584"/>
          </a:xfrm>
          <a:prstGeom prst="roundRect">
            <a:avLst>
              <a:gd name="adj" fmla="val 86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2157660" y="433378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1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2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SC-04-002 ·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반려 사유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관리자가 적은 사유를 그대로 보여 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탈퇴하기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탈퇴한 뒤 새 사업자등록증으로 다시 가입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6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반려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반려는 사유가 꼭 있어야 함 (빈 사유는 서버가 거절)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홈 · 승인</a:t>
            </a:r>
            <a:endParaRPr lang="en-US" sz="94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FBF-01, FBF-02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 홈 (승인됨)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/vendor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SC-04-002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홈 · 승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05272"/>
            <a:ext cx="8610600" cy="4333256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149310" y="3205163"/>
            <a:ext cx="4921580" cy="904144"/>
          </a:xfrm>
          <a:prstGeom prst="roundRect">
            <a:avLst>
              <a:gd name="adj" fmla="val 404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996910" y="307181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9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0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SC-04-002 · 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승인 상태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승인되면 업체 기능이 열림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cp-head"/>
          <p:cNvSpPr txBox="1"/>
          <p:nvPr/>
        </p:nvSpPr>
        <p:spPr>
          <a:xfrm>
            <a:off x="9029700" y="554355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4" name="cp-body"/>
          <p:cNvSpPr txBox="1"/>
          <p:nvPr/>
        </p:nvSpPr>
        <p:spPr>
          <a:xfrm>
            <a:off x="9105900" y="5829300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다음에 열리는 화면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견적 요청함 · 가견적서 쓰기 · 실측 요청 · 실측 견적서 · 공사기간 등록 · 업체 정보 관리 (FFV-02 ~ 08)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회원관리</a:t>
            </a:r>
            <a:endParaRPr lang="en-US" sz="94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FAD-01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관리자 &gt; 회원관리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/admin/members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SC-05-001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회원관리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070906" y="2186956"/>
            <a:ext cx="5768086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918506" y="205360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6856010" y="2186956"/>
            <a:ext cx="1293283" cy="596027"/>
          </a:xfrm>
          <a:prstGeom prst="roundRect">
            <a:avLst>
              <a:gd name="adj" fmla="val 61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703610" y="2053606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1077087" y="3053408"/>
            <a:ext cx="7066026" cy="3528367"/>
          </a:xfrm>
          <a:prstGeom prst="roundRect">
            <a:avLst>
              <a:gd name="adj" fmla="val 1037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924687" y="292005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6979431" y="3436609"/>
            <a:ext cx="609740" cy="329099"/>
          </a:xfrm>
          <a:prstGeom prst="roundRect">
            <a:avLst>
              <a:gd name="adj" fmla="val 1111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6827031" y="3303259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SC-05-001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찾기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이름 · 이메일 일부로 거르기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계정 상태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전체 · 사용 중 · 정지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회원 목록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이름 · 이메일 · 가입일 · 프로젝트 수 · 상태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계정 정지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정지 · 정지 풀기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70547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991225"/>
            <a:ext cx="2705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예시 데이터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회원 목록 API를 만들기 전이라 예시 데이터로 그린 화면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업체관리</a:t>
            </a:r>
            <a:endParaRPr lang="en-US" sz="94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FAD-03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관리자 &gt; 업체관리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/admin/vendors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SC-05-002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관리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535381"/>
            <a:ext cx="8610600" cy="4473039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611703" y="2891962"/>
            <a:ext cx="7996794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459303" y="275861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618692" y="3374212"/>
            <a:ext cx="7982816" cy="961368"/>
          </a:xfrm>
          <a:prstGeom prst="roundRect">
            <a:avLst>
              <a:gd name="adj" fmla="val 380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466292" y="324086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5624215" y="3814527"/>
            <a:ext cx="275779" cy="231878"/>
          </a:xfrm>
          <a:prstGeom prst="roundRect">
            <a:avLst>
              <a:gd name="adj" fmla="val 1577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5471815" y="368117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mark-box-4"/>
          <p:cNvSpPr/>
          <p:nvPr/>
        </p:nvSpPr>
        <p:spPr>
          <a:xfrm>
            <a:off x="6689292" y="3807538"/>
            <a:ext cx="1800390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3" name="mark-4"/>
          <p:cNvSpPr/>
          <p:nvPr/>
        </p:nvSpPr>
        <p:spPr>
          <a:xfrm>
            <a:off x="6536892" y="367418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5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6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SC-05-002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1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상태 탭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승인 대기 · 승인 · 반려 · 전체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업체 가입 신청 목록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담당자 · 이메일 · 신청일 · 상태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사업자등록증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새 창에서 보기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4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처리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승인 · 반려 (반려는 사유 필수)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cp-head"/>
          <p:cNvSpPr txBox="1"/>
          <p:nvPr/>
        </p:nvSpPr>
        <p:spPr>
          <a:xfrm>
            <a:off x="9029700" y="5381625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20" name="cp-body"/>
          <p:cNvSpPr txBox="1"/>
          <p:nvPr/>
        </p:nvSpPr>
        <p:spPr>
          <a:xfrm>
            <a:off x="9105900" y="5667375"/>
            <a:ext cx="27051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업체 승인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승인한 업체만 업체 기능을 쓰고 목록 · 추천에 나옴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두 관리자가 동시에 처리하면 한 명만 성공 (409)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신청 상세</a:t>
            </a:r>
            <a:endParaRPr lang="en-US" sz="94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FAD-02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업체관리 &gt; 업체 이름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/admin/vendors/[id]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SC-05-003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신청 상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09" y="990600"/>
            <a:ext cx="7614581" cy="5562600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2121620" y="2298208"/>
            <a:ext cx="4976961" cy="1383289"/>
          </a:xfrm>
          <a:prstGeom prst="roundRect">
            <a:avLst>
              <a:gd name="adj" fmla="val 2644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969220" y="2164858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2121620" y="3772683"/>
            <a:ext cx="4976961" cy="1284012"/>
          </a:xfrm>
          <a:prstGeom prst="roundRect">
            <a:avLst>
              <a:gd name="adj" fmla="val 2849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969220" y="3639333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2121620" y="5147882"/>
            <a:ext cx="4976961" cy="851366"/>
          </a:xfrm>
          <a:prstGeom prst="roundRect">
            <a:avLst>
              <a:gd name="adj" fmla="val 42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1969220" y="5014532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SC-05-003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신청 정보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담당자 · 이메일 · 신청일 · 상태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사업자등록증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미리보기 · 새 창에서 보기 (관리자와 그 업체만)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처리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승인 · 반려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8674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6153150"/>
            <a:ext cx="2705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확인할 것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상호 · 대표자 · 사업자등록번호 · 개업일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33500" y="342900"/>
            <a:ext cx="752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72233"/>
                </a:solidFill>
              </a:rPr>
              <a:t>업체 신청 상세 · 반려 사유</a:t>
            </a:r>
            <a:endParaRPr lang="en-US" sz="94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342900"/>
          <a:ext cx="1158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53350"/>
                <a:gridCol w="914400"/>
                <a:gridCol w="2000250"/>
              </a:tblGrid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FAD-02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업체관리 &gt; 업체 이름 &gt; 반려 </a:t>
                      </a:r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56647A"/>
                          </a:solidFill>
                        </a:rPr>
                        <a:t>· /admin/vendors/[id]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72233"/>
                          </a:solidFill>
                        </a:rPr>
                        <a:t>SC-05-003</a:t>
                      </a:r>
                      <a:endParaRPr lang="en-US" sz="940" dirty="0"/>
                    </a:p>
                  </a:txBody>
                  <a:tcPr marL="114300" marR="114300" marT="18288" marB="18288" anchor="ctr">
                    <a:lnL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ot-box"/>
          <p:cNvSpPr/>
          <p:nvPr/>
        </p:nvSpPr>
        <p:spPr>
          <a:xfrm>
            <a:off x="304800" y="990600"/>
            <a:ext cx="8610600" cy="5562600"/>
          </a:xfrm>
          <a:prstGeom prst="rect">
            <a:avLst/>
          </a:prstGeom>
          <a:solidFill>
            <a:srgbClr val="F1F4F8"/>
          </a:solidFill>
          <a:ln w="9525">
            <a:solidFill>
              <a:srgbClr val="B8C4D3"/>
            </a:solidFill>
            <a:prstDash val="solid"/>
          </a:ln>
        </p:spPr>
      </p:sp>
      <p:pic>
        <p:nvPicPr>
          <p:cNvPr id="5" name="shot" descr="업체 신청 상세 · 반려 사유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25707"/>
            <a:ext cx="8610600" cy="4892386"/>
          </a:xfrm>
          <a:prstGeom prst="rect">
            <a:avLst/>
          </a:prstGeom>
        </p:spPr>
      </p:pic>
      <p:sp>
        <p:nvSpPr>
          <p:cNvPr id="6" name="mark-box-1"/>
          <p:cNvSpPr/>
          <p:nvPr/>
        </p:nvSpPr>
        <p:spPr>
          <a:xfrm>
            <a:off x="1960604" y="4622207"/>
            <a:ext cx="5298993" cy="1029949"/>
          </a:xfrm>
          <a:prstGeom prst="roundRect">
            <a:avLst>
              <a:gd name="adj" fmla="val 355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7" name="mark-1"/>
          <p:cNvSpPr/>
          <p:nvPr/>
        </p:nvSpPr>
        <p:spPr>
          <a:xfrm>
            <a:off x="1808204" y="4488857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mark-box-2"/>
          <p:cNvSpPr/>
          <p:nvPr/>
        </p:nvSpPr>
        <p:spPr>
          <a:xfrm>
            <a:off x="1960604" y="5287484"/>
            <a:ext cx="652645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1808204" y="515413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mark-box-3"/>
          <p:cNvSpPr/>
          <p:nvPr/>
        </p:nvSpPr>
        <p:spPr>
          <a:xfrm>
            <a:off x="2625990" y="5287484"/>
            <a:ext cx="652645" cy="364671"/>
          </a:xfrm>
          <a:prstGeom prst="roundRect">
            <a:avLst>
              <a:gd name="adj" fmla="val 1003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F5FAE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2473590" y="5154134"/>
            <a:ext cx="209550" cy="209550"/>
          </a:xfrm>
          <a:prstGeom prst="ellipse">
            <a:avLst/>
          </a:prstGeom>
          <a:solidFill>
            <a:srgbClr val="1F5FA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desc-panel"/>
          <p:cNvSpPr/>
          <p:nvPr/>
        </p:nvSpPr>
        <p:spPr>
          <a:xfrm>
            <a:off x="9029700" y="990600"/>
            <a:ext cx="2857500" cy="556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3"/>
            </a:solidFill>
            <a:prstDash val="solid"/>
          </a:ln>
        </p:spPr>
      </p:sp>
      <p:sp>
        <p:nvSpPr>
          <p:cNvPr id="13" name="desc-head"/>
          <p:cNvSpPr txBox="1"/>
          <p:nvPr/>
        </p:nvSpPr>
        <p:spPr>
          <a:xfrm>
            <a:off x="9029700" y="9906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Description</a:t>
            </a:r>
            <a:endParaRPr lang="en-US" sz="940" dirty="0"/>
          </a:p>
        </p:txBody>
      </p:sp>
      <p:sp>
        <p:nvSpPr>
          <p:cNvPr id="14" name="desc-id"/>
          <p:cNvSpPr txBox="1"/>
          <p:nvPr/>
        </p:nvSpPr>
        <p:spPr>
          <a:xfrm>
            <a:off x="9124950" y="1238250"/>
            <a:ext cx="266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233"/>
                </a:solidFill>
              </a:rPr>
              <a:t>SC-05-003 · 2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029700" y="1485900"/>
            <a:ext cx="2857500" cy="0"/>
          </a:xfrm>
          <a:prstGeom prst="line">
            <a:avLst/>
          </a:prstGeom>
          <a:noFill/>
          <a:ln w="9525">
            <a:solidFill>
              <a:srgbClr val="B8C4D3"/>
            </a:solidFill>
            <a:prstDash val="solid"/>
          </a:ln>
        </p:spPr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700" y="1485900"/>
          <a:ext cx="2857500" cy="914400"/>
        </p:xfrm>
        <a:graphic>
          <a:graphicData uri="http://schemas.openxmlformats.org/drawingml/2006/table">
            <a:tbl>
              <a:tblPr/>
              <a:tblGrid>
                <a:gridCol w="247650"/>
                <a:gridCol w="260985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1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반려 사유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300자까지 · 업체 홈에 그대로 보임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2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반려하기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사유가 비면 '반려 사유를 적어 주세요'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F5FAE"/>
                          </a:solidFill>
                        </a:rPr>
                        <a:t>3</a:t>
                      </a:r>
                      <a:endParaRPr lang="en-US" sz="94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172233"/>
                          </a:solidFill>
                        </a:rPr>
                        <a:t>그만두기</a:t>
                      </a:r>
                      <a:endParaRPr lang="en-US" sz="1200" dirty="0"/>
                    </a:p>
                    <a:p>
                      <a:pPr marL="127000" indent="-1270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A4659"/>
                          </a:solidFill>
                        </a:rPr>
                        <a:t>사유 칸을 닫음</a:t>
                      </a:r>
                      <a:endParaRPr lang="en-US" sz="1200" dirty="0"/>
                    </a:p>
                  </a:txBody>
                  <a:tcPr marL="54864" marR="54864" marT="27432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p-head"/>
          <p:cNvSpPr txBox="1"/>
          <p:nvPr/>
        </p:nvSpPr>
        <p:spPr>
          <a:xfrm>
            <a:off x="9029700" y="5867400"/>
            <a:ext cx="2857500" cy="247650"/>
          </a:xfrm>
          <a:prstGeom prst="rect">
            <a:avLst/>
          </a:prstGeom>
          <a:solidFill>
            <a:srgbClr val="3A46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Check Point</a:t>
            </a:r>
            <a:endParaRPr lang="en-US" sz="940" dirty="0"/>
          </a:p>
        </p:txBody>
      </p:sp>
      <p:sp>
        <p:nvSpPr>
          <p:cNvPr id="18" name="cp-body"/>
          <p:cNvSpPr txBox="1"/>
          <p:nvPr/>
        </p:nvSpPr>
        <p:spPr>
          <a:xfrm>
            <a:off x="9105900" y="6153150"/>
            <a:ext cx="2705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b="1" dirty="0">
                <a:solidFill>
                  <a:srgbClr val="172233"/>
                </a:solidFill>
              </a:rPr>
              <a:t>반려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3A4659"/>
                </a:solidFill>
              </a:rPr>
              <a:t>빈 반려 사유는 DB 제약으로도 막음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629400"/>
            <a:ext cx="7620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30">
                <a:solidFill>
                  <a:srgbClr val="5664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tjip">
  <a:themeElements>
    <a:clrScheme name="Mitjip">
      <a:dk1>
        <a:srgbClr val="172233"/>
      </a:dk1>
      <a:lt1>
        <a:srgbClr val="FFFFFF"/>
      </a:lt1>
      <a:dk2>
        <a:srgbClr val="3A4659"/>
      </a:dk2>
      <a:lt2>
        <a:srgbClr val="F1F4F8"/>
      </a:lt2>
      <a:accent1>
        <a:srgbClr val="1F5FAE"/>
      </a:accent1>
      <a:accent2>
        <a:srgbClr val="2D6CB5"/>
      </a:accent2>
      <a:accent3>
        <a:srgbClr val="B9D3F3"/>
      </a:accent3>
      <a:accent4>
        <a:srgbClr val="56647A"/>
      </a:accent4>
      <a:accent5>
        <a:srgbClr val="D8E2EE"/>
      </a:accent5>
      <a:accent6>
        <a:srgbClr val="B8C4D3"/>
      </a:accent6>
      <a:hlink>
        <a:srgbClr val="2D6CB5"/>
      </a:hlink>
      <a:folHlink>
        <a:srgbClr val="235A9C"/>
      </a:folHlink>
    </a:clrScheme>
    <a:fontScheme name="Mitjip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SKN34-Final-1Team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믿집 화면설계서</dc:title>
  <dc:subject>PptxGenJS Presentation</dc:subject>
  <dc:creator>이성민</dc:creator>
  <cp:lastModifiedBy>이성민</cp:lastModifiedBy>
  <cp:revision>1</cp:revision>
  <dcterms:created xsi:type="dcterms:W3CDTF">2026-10-30T01:12:42Z</dcterms:created>
  <dcterms:modified xsi:type="dcterms:W3CDTF">2026-10-30T01:12:42Z</dcterms:modified>
</cp:coreProperties>
</file>